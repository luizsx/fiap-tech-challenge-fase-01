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8C00"/>
                </a:solidFill>
              </a:defRPr>
            </a:pPr>
            <a:r>
              <a:t>Pós graduação – AI Scientist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Análise Preditiva de NPS: Transformando Dados Operacionais em Inteligência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Volatilidade da NPS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O ganho de escala no e-commerce pelo nosso crescimento acelerado evidenciou a fragilidade da nossa percepção de valor pelo cliente: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Percepções Divergentes: </a:t>
            </a:r>
            <a:r>
              <a:rPr sz="2200">
                <a:solidFill>
                  <a:srgbClr val="3C3C3C"/>
                </a:solidFill>
              </a:rPr>
              <a:t>Processos idênticos gerando resultados de satisfação opostos.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Monitoramento Tardio: </a:t>
            </a:r>
            <a:r>
              <a:rPr sz="2200">
                <a:solidFill>
                  <a:srgbClr val="3C3C3C"/>
                </a:solidFill>
              </a:rPr>
              <a:t>Medimos a satisfação apenas no fim do ciclo, o que nos torna puramente reativos.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Dano Consolidado: </a:t>
            </a:r>
            <a:r>
              <a:rPr sz="2200">
                <a:solidFill>
                  <a:srgbClr val="3C3C3C"/>
                </a:solidFill>
              </a:rPr>
              <a:t>O feedback de baixa pontuação chega quando a experiência negativa já é irreversível.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400800"/>
            <a:ext cx="12801600" cy="1371600"/>
          </a:xfrm>
          <a:prstGeom prst="rect">
            <a:avLst/>
          </a:prstGeom>
          <a:solidFill>
            <a:srgbClr val="E6F0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Com isso nosso objetivo se volta para transformar dados operacionais em inteligência preditiva. O foco não é apenas medir o NPS, mas sim antecipar a insatisfação.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 que buscamos responder?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Após a análise, encontramos a visão de que a empresa está em um ponto de reatividade. Para mudar isso, guiamos nossa pesquisa através da seguinte pergunta: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003366"/>
                </a:solidFill>
              </a:defRPr>
            </a:pPr>
            <a:r>
              <a:t>"Quais alavancas operacionais (como logística e atendimento) realmente definem a satisfação do cliente, e como podemos identificá-las antes da coleta do NPS?"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 que os dados nos contam?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Ao analisar a base histórica, um fator determinante foi identificado: o impacto direto dos dias de atraso na experiência do cliente.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Perfil do Detrator: </a:t>
            </a:r>
            <a:r>
              <a:rPr sz="2200">
                <a:solidFill>
                  <a:srgbClr val="3C3C3C"/>
                </a:solidFill>
              </a:rPr>
              <a:t>A análise revela que o grupo de "Detratores" concentra-se em pedidos com atrasos significativos. A mediana e a dispersão (variação) dos atrasos são nitidamente superiores neste grupo.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Excelência do Promotor: </a:t>
            </a:r>
            <a:r>
              <a:rPr sz="2200">
                <a:solidFill>
                  <a:srgbClr val="3C3C3C"/>
                </a:solidFill>
              </a:rPr>
              <a:t>Em contrapartida, os "Promotores" apresentam uma taxa de atraso praticamente nula, com entregas concentradas entre 0 e 1 dia de atraso.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O Ponto de Ruptura: </a:t>
            </a:r>
            <a:r>
              <a:rPr sz="2200">
                <a:solidFill>
                  <a:srgbClr val="3C3C3C"/>
                </a:solidFill>
              </a:rPr>
              <a:t>Os dados mostram que o cliente tolera pequenos atritos, mas o atraso logístico recorrente destrói a percepção de valor, invalidando investimentos em marketing ou concessão de descontos.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Os principais Motores da Satisfação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Além do atraso logístico, estas são as engrenagens fundamentais que definem a nota do cliente: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003366"/>
                </a:solidFill>
              </a:defRPr>
            </a:pPr>
            <a:r>
              <a:t>Fatores de Atrito (Reduzem o NPS)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D9534F"/>
                </a:solidFill>
              </a:rPr>
              <a:t>• Dias de Atraso na Entrega: </a:t>
            </a:r>
            <a:r>
              <a:rPr sz="2000">
                <a:solidFill>
                  <a:srgbClr val="3C3C3C"/>
                </a:solidFill>
              </a:rPr>
              <a:t>O maior detrator. Cada dia adicional reduz drasticamente a probabilidade de recomendação.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D9534F"/>
                </a:solidFill>
              </a:rPr>
              <a:t>• Reincidência no Atendimento: </a:t>
            </a:r>
            <a:r>
              <a:rPr sz="2000">
                <a:solidFill>
                  <a:srgbClr val="3C3C3C"/>
                </a:solidFill>
              </a:rPr>
              <a:t>Clientes que precisam acionar o SAC múltiplas vezes apresentam uma forte tendência à detração.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D9534F"/>
                </a:solidFill>
              </a:rPr>
              <a:t>• Falhas na Entrega: </a:t>
            </a:r>
            <a:r>
              <a:rPr sz="2000">
                <a:solidFill>
                  <a:srgbClr val="3C3C3C"/>
                </a:solidFill>
              </a:rPr>
              <a:t>Múltiplas tentativas frustradas geram ansiedade e frustração no consumidor.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60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003366"/>
                </a:solidFill>
              </a:defRPr>
            </a:pPr>
            <a:r>
              <a:t>Fatores de Lealdade (Elevam o NPS)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5CB85C"/>
                </a:solidFill>
              </a:rPr>
              <a:t>• Resolução Ágil: </a:t>
            </a:r>
            <a:r>
              <a:rPr sz="2000">
                <a:solidFill>
                  <a:srgbClr val="3C3C3C"/>
                </a:solidFill>
              </a:rPr>
              <a:t>Quando surge um problema, resolvê-lo em menos de 24h é capaz de recuperar a confiança do cliente.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5CB85C"/>
                </a:solidFill>
              </a:rPr>
              <a:t>• Previsibilidade: </a:t>
            </a:r>
            <a:r>
              <a:rPr sz="2000">
                <a:solidFill>
                  <a:srgbClr val="3C3C3C"/>
                </a:solidFill>
              </a:rPr>
              <a:t>Cumprir o prazo prometido (mesmo que longo) é mais valioso do que prometer rapidez e atrasar.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Recomendações Práticas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Podemos mudar nossas estratégias a partir de três frentes: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Logística Preventiva (Torre de Controle): </a:t>
            </a:r>
            <a:r>
              <a:rPr sz="2200">
                <a:solidFill>
                  <a:srgbClr val="3C3C3C"/>
                </a:solidFill>
              </a:rPr>
              <a:t>Implementação de alertas automatizados para pedidos com risco de atraso. O objetivo é a comunicação proativa: informar o cliente antes que ele precise nos acionar.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Fast-Track no Atendimento: </a:t>
            </a:r>
            <a:r>
              <a:rPr sz="2200">
                <a:solidFill>
                  <a:srgbClr val="3C3C3C"/>
                </a:solidFill>
              </a:rPr>
              <a:t>Priorização automática (fila expressa) no SAC para clientes com pedidos já atrasados. Reduzir o tempo de resposta é fundamental para mitigar danos ao NPS.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Ajuste de Promessa (SLA): </a:t>
            </a:r>
            <a:r>
              <a:rPr sz="2200">
                <a:solidFill>
                  <a:srgbClr val="3C3C3C"/>
                </a:solidFill>
              </a:rPr>
              <a:t>Ajustar os prazos no site para ser mais conservador em regiões com histórico crítico de atrasos, garantindo expectativas realistas.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Limitações e Cuidados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Para garantir decisões seguras, devemos considerar as fronteiras desta análise: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NPS como Recorte Temporal: </a:t>
            </a:r>
            <a:r>
              <a:rPr sz="2200">
                <a:solidFill>
                  <a:srgbClr val="3C3C3C"/>
                </a:solidFill>
              </a:rPr>
              <a:t>O indicador reflete o sentimento de um momento específico. Para entender a jornada completa, é necessário analisar o relacionamento do cliente a longo prazo.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Variáveis Externas (Produto): </a:t>
            </a:r>
            <a:r>
              <a:rPr sz="2200">
                <a:solidFill>
                  <a:srgbClr val="3C3C3C"/>
                </a:solidFill>
              </a:rPr>
              <a:t>Nossa base foca em logística e operação. Fatores como defeitos de fábrica ou fragilidade do produto podem gerar detratores mesmo com uma entrega perfeita.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Precisão de Entrega e Pedido: </a:t>
            </a:r>
            <a:r>
              <a:rPr sz="2200">
                <a:solidFill>
                  <a:srgbClr val="3C3C3C"/>
                </a:solidFill>
              </a:rPr>
              <a:t>Otimizar o tempo de entrega é crucial, mas não resolve problemas de qualidade. Entregar o produto errado com rapidez continua resultando em uma experiência negativa.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679</Words>
  <Application>Microsoft Office PowerPoint</Application>
  <PresentationFormat>Personalizados</PresentationFormat>
  <Paragraphs>35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1</cp:revision>
  <dcterms:created xsi:type="dcterms:W3CDTF">2013-01-27T09:14:16Z</dcterms:created>
  <dcterms:modified xsi:type="dcterms:W3CDTF">2026-05-05T00:39:19Z</dcterms:modified>
  <cp:category/>
</cp:coreProperties>
</file>