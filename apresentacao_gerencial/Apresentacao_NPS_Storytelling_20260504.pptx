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2" r:id="rId10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7AF0CE-F180-00E5-DED7-B1F3196E2A48}" v="472" dt="2026-05-05T01:35:08.115"/>
    <p1510:client id="{EAB5A876-5391-41EE-9F1E-869A8CCEC50E}" v="342" dt="2026-05-05T01:38:54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96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8C00"/>
                </a:solidFill>
              </a:defRPr>
            </a:pPr>
            <a:r>
              <a:t>Pós graduação – AI Scientist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Análise Preditiva de NPS: Transformando Dados Operacionais em Inteligência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335896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pt-BR"/>
              <a:t>Case</a:t>
            </a:r>
            <a:r>
              <a:t> NPS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Atualmente,  o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 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NPS  é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 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coletado  apenas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 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após  o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 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encerramento  da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 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jornada  de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compra,  o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 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que  limita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 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a  capacidade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 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da  empresa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 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de  antecipar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  </a:t>
            </a:r>
            <a:r>
              <a:rPr lang="pt-BR" sz="2400" err="1">
                <a:solidFill>
                  <a:srgbClr val="3C3C3C"/>
                </a:solidFill>
                <a:ea typeface="+mn-lt"/>
                <a:cs typeface="+mn-lt"/>
              </a:rPr>
              <a:t>problemas,  priorizar</a:t>
            </a:r>
            <a:r>
              <a:rPr lang="pt-BR" sz="2400">
                <a:solidFill>
                  <a:srgbClr val="3C3C3C"/>
                </a:solidFill>
                <a:ea typeface="+mn-lt"/>
                <a:cs typeface="+mn-lt"/>
              </a:rPr>
              <a:t> ações corretivas e atuar de forma preventiva.</a:t>
            </a:r>
            <a:endParaRPr lang="pt-BR"/>
          </a:p>
          <a:p>
            <a:pPr>
              <a:defRPr sz="2400">
                <a:solidFill>
                  <a:srgbClr val="3C3C3C"/>
                </a:solidFill>
              </a:defRPr>
            </a:pPr>
            <a:endParaRPr lang="pt-BR" sz="2400">
              <a:solidFill>
                <a:srgbClr val="3C3C3C"/>
              </a:solidFill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170058"/>
            <a:ext cx="12801600" cy="16209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</a:t>
            </a:r>
            <a:r>
              <a:rPr sz="2200" b="1" err="1">
                <a:solidFill>
                  <a:srgbClr val="FF8C00"/>
                </a:solidFill>
              </a:rPr>
              <a:t>Percepções</a:t>
            </a:r>
            <a:r>
              <a:rPr sz="2200" b="1">
                <a:solidFill>
                  <a:srgbClr val="FF8C00"/>
                </a:solidFill>
              </a:rPr>
              <a:t> : </a:t>
            </a:r>
            <a:r>
              <a:rPr sz="2200" err="1">
                <a:solidFill>
                  <a:srgbClr val="3C3C3C"/>
                </a:solidFill>
              </a:rPr>
              <a:t>Processos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sz="2200" err="1">
                <a:solidFill>
                  <a:srgbClr val="3C3C3C"/>
                </a:solidFill>
              </a:rPr>
              <a:t>idênticos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sz="2200" err="1">
                <a:solidFill>
                  <a:srgbClr val="3C3C3C"/>
                </a:solidFill>
              </a:rPr>
              <a:t>gerando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sz="2200" err="1">
                <a:solidFill>
                  <a:srgbClr val="3C3C3C"/>
                </a:solidFill>
              </a:rPr>
              <a:t>resultados</a:t>
            </a:r>
            <a:r>
              <a:rPr sz="2200">
                <a:solidFill>
                  <a:srgbClr val="3C3C3C"/>
                </a:solidFill>
              </a:rPr>
              <a:t> de </a:t>
            </a:r>
            <a:r>
              <a:rPr sz="2200" err="1">
                <a:solidFill>
                  <a:srgbClr val="3C3C3C"/>
                </a:solidFill>
              </a:rPr>
              <a:t>satisfação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sz="2200" err="1">
                <a:solidFill>
                  <a:srgbClr val="3C3C3C"/>
                </a:solidFill>
              </a:rPr>
              <a:t>opostos</a:t>
            </a:r>
            <a:r>
              <a:rPr lang="pt-BR" sz="2200">
                <a:solidFill>
                  <a:srgbClr val="3C3C3C"/>
                </a:solidFill>
              </a:rPr>
              <a:t> </a:t>
            </a:r>
            <a:r>
              <a:rPr lang="pt-BR" sz="1100">
                <a:solidFill>
                  <a:srgbClr val="3C3C3C"/>
                </a:solidFill>
              </a:rPr>
              <a:t>(Entre Detratores, Neutros e Promotores)</a:t>
            </a:r>
            <a:r>
              <a:rPr lang="pt-BR" sz="1400">
                <a:solidFill>
                  <a:srgbClr val="3C3C3C"/>
                </a:solidFill>
              </a:rPr>
              <a:t>.</a:t>
            </a:r>
            <a:endParaRPr sz="1400">
              <a:solidFill>
                <a:srgbClr val="3C3C3C"/>
              </a:solidFill>
            </a:endParaRP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</a:t>
            </a:r>
            <a:r>
              <a:rPr lang="pt-BR" sz="2200" b="1" err="1">
                <a:solidFill>
                  <a:srgbClr val="FF8C00"/>
                </a:solidFill>
              </a:rPr>
              <a:t>Monitoramento</a:t>
            </a:r>
            <a:r>
              <a:rPr sz="2200" b="1">
                <a:solidFill>
                  <a:srgbClr val="FF8C00"/>
                </a:solidFill>
              </a:rPr>
              <a:t> Tardio: </a:t>
            </a:r>
            <a:r>
              <a:rPr lang="pt-BR" sz="2200" err="1">
                <a:solidFill>
                  <a:srgbClr val="3C3C3C"/>
                </a:solidFill>
              </a:rPr>
              <a:t>Medimos</a:t>
            </a:r>
            <a:r>
              <a:rPr sz="2200">
                <a:solidFill>
                  <a:srgbClr val="3C3C3C"/>
                </a:solidFill>
              </a:rPr>
              <a:t> a </a:t>
            </a:r>
            <a:r>
              <a:rPr lang="pt-BR" sz="2200" err="1">
                <a:solidFill>
                  <a:srgbClr val="3C3C3C"/>
                </a:solidFill>
              </a:rPr>
              <a:t>satisfação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apenas</a:t>
            </a:r>
            <a:r>
              <a:rPr sz="2200">
                <a:solidFill>
                  <a:srgbClr val="3C3C3C"/>
                </a:solidFill>
              </a:rPr>
              <a:t> no </a:t>
            </a:r>
            <a:r>
              <a:rPr lang="pt-BR" sz="2200" err="1">
                <a:solidFill>
                  <a:srgbClr val="3C3C3C"/>
                </a:solidFill>
              </a:rPr>
              <a:t>fim</a:t>
            </a:r>
            <a:r>
              <a:rPr sz="2200">
                <a:solidFill>
                  <a:srgbClr val="3C3C3C"/>
                </a:solidFill>
              </a:rPr>
              <a:t> do </a:t>
            </a:r>
            <a:r>
              <a:rPr lang="pt-BR" sz="2200" err="1">
                <a:solidFill>
                  <a:srgbClr val="3C3C3C"/>
                </a:solidFill>
              </a:rPr>
              <a:t>ciclo</a:t>
            </a:r>
            <a:r>
              <a:rPr sz="2200">
                <a:solidFill>
                  <a:srgbClr val="3C3C3C"/>
                </a:solidFill>
              </a:rPr>
              <a:t>, o </a:t>
            </a:r>
            <a:r>
              <a:rPr lang="pt-BR" sz="2200" err="1">
                <a:solidFill>
                  <a:srgbClr val="3C3C3C"/>
                </a:solidFill>
              </a:rPr>
              <a:t>que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nos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torna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puramente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reativos</a:t>
            </a:r>
            <a:r>
              <a:rPr sz="2200">
                <a:solidFill>
                  <a:srgbClr val="3C3C3C"/>
                </a:solidFill>
              </a:rPr>
              <a:t>.</a:t>
            </a:r>
            <a:endParaRPr lang="pt-BR" sz="2200">
              <a:solidFill>
                <a:srgbClr val="3C3C3C"/>
              </a:solidFill>
              <a:ea typeface="Calibri"/>
              <a:cs typeface="Calibri"/>
            </a:endParaRP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Dano </a:t>
            </a:r>
            <a:r>
              <a:rPr lang="pt-BR" sz="2200" b="1" err="1">
                <a:solidFill>
                  <a:srgbClr val="FF8C00"/>
                </a:solidFill>
              </a:rPr>
              <a:t>Consolidado</a:t>
            </a:r>
            <a:r>
              <a:rPr sz="2200" b="1">
                <a:solidFill>
                  <a:srgbClr val="FF8C00"/>
                </a:solidFill>
              </a:rPr>
              <a:t>: </a:t>
            </a:r>
            <a:r>
              <a:rPr sz="2200">
                <a:solidFill>
                  <a:srgbClr val="3C3C3C"/>
                </a:solidFill>
              </a:rPr>
              <a:t>O feedback de </a:t>
            </a:r>
            <a:r>
              <a:rPr lang="pt-BR" sz="2200" err="1">
                <a:solidFill>
                  <a:srgbClr val="3C3C3C"/>
                </a:solidFill>
              </a:rPr>
              <a:t>baixa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pontuação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chega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quando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a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experiência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negativa</a:t>
            </a:r>
            <a:r>
              <a:rPr sz="2200">
                <a:solidFill>
                  <a:srgbClr val="3C3C3C"/>
                </a:solidFill>
              </a:rPr>
              <a:t> </a:t>
            </a:r>
            <a:r>
              <a:rPr lang="pt-BR" sz="2200" err="1">
                <a:solidFill>
                  <a:srgbClr val="3C3C3C"/>
                </a:solidFill>
              </a:rPr>
              <a:t>já</a:t>
            </a:r>
            <a:r>
              <a:rPr sz="2200">
                <a:solidFill>
                  <a:srgbClr val="3C3C3C"/>
                </a:solidFill>
              </a:rPr>
              <a:t> é </a:t>
            </a:r>
            <a:r>
              <a:rPr lang="pt-BR" sz="2200" err="1">
                <a:solidFill>
                  <a:srgbClr val="3C3C3C"/>
                </a:solidFill>
              </a:rPr>
              <a:t>irreversível</a:t>
            </a:r>
            <a:r>
              <a:rPr sz="2200">
                <a:solidFill>
                  <a:srgbClr val="3C3C3C"/>
                </a:solidFill>
              </a:rPr>
              <a:t>.</a:t>
            </a:r>
            <a:endParaRPr lang="pt-BR" sz="2200">
              <a:solidFill>
                <a:srgbClr val="3C3C3C"/>
              </a:solidFill>
              <a:ea typeface="Calibri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6400800"/>
            <a:ext cx="12801600" cy="1371600"/>
          </a:xfrm>
          <a:prstGeom prst="rect">
            <a:avLst/>
          </a:prstGeom>
          <a:solidFill>
            <a:srgbClr val="E6F0FA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Com </a:t>
            </a:r>
            <a:r>
              <a:rPr lang="pt-BR" err="1"/>
              <a:t>isso</a:t>
            </a:r>
            <a:r>
              <a:rPr lang="pt-BR"/>
              <a:t>,</a:t>
            </a:r>
            <a:r>
              <a:t> </a:t>
            </a:r>
            <a:r>
              <a:rPr lang="pt-BR" err="1"/>
              <a:t>nosso</a:t>
            </a:r>
            <a:r>
              <a:t> </a:t>
            </a:r>
            <a:r>
              <a:rPr lang="pt-BR" err="1"/>
              <a:t>objetivo</a:t>
            </a:r>
            <a:r>
              <a:t> se volta para </a:t>
            </a:r>
            <a:r>
              <a:rPr lang="pt-BR" err="1"/>
              <a:t>transformar</a:t>
            </a:r>
            <a:r>
              <a:t> dados </a:t>
            </a:r>
            <a:r>
              <a:rPr lang="pt-BR" err="1"/>
              <a:t>operacionais</a:t>
            </a:r>
            <a:r>
              <a:t> </a:t>
            </a:r>
            <a:r>
              <a:rPr lang="pt-BR" err="1"/>
              <a:t>em</a:t>
            </a:r>
            <a:r>
              <a:t> </a:t>
            </a:r>
            <a:r>
              <a:rPr lang="pt-BR" err="1"/>
              <a:t>inteligência</a:t>
            </a:r>
            <a:r>
              <a:t> </a:t>
            </a:r>
            <a:r>
              <a:rPr lang="pt-BR" err="1"/>
              <a:t>preditiva</a:t>
            </a:r>
            <a:r>
              <a:t>. O </a:t>
            </a:r>
            <a:r>
              <a:rPr lang="pt-BR" err="1"/>
              <a:t>foco</a:t>
            </a:r>
            <a:r>
              <a:t> </a:t>
            </a:r>
            <a:r>
              <a:rPr lang="pt-BR" err="1"/>
              <a:t>não</a:t>
            </a:r>
            <a:r>
              <a:t> é </a:t>
            </a:r>
            <a:r>
              <a:rPr lang="pt-BR" err="1"/>
              <a:t>apenas</a:t>
            </a:r>
            <a:r>
              <a:t> </a:t>
            </a:r>
            <a:r>
              <a:rPr lang="pt-BR" err="1"/>
              <a:t>medir</a:t>
            </a:r>
            <a:r>
              <a:t> o NPS, mas sim </a:t>
            </a:r>
            <a:r>
              <a:rPr lang="pt-BR" err="1"/>
              <a:t>antecipar</a:t>
            </a:r>
            <a:r>
              <a:t> </a:t>
            </a:r>
            <a:r>
              <a:rPr lang="pt-BR" err="1"/>
              <a:t>a</a:t>
            </a:r>
            <a:r>
              <a:t> </a:t>
            </a:r>
            <a:r>
              <a:rPr lang="pt-BR" err="1"/>
              <a:t>insatisfação</a:t>
            </a:r>
            <a: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 que buscamos responder?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Após a análise, encontramos a visão de que a empresa está em um ponto de reatividade. Para mudar isso, guiamos nossa pesquisa através da seguinte pergunta: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003366"/>
                </a:solidFill>
              </a:defRPr>
            </a:pPr>
            <a:r>
              <a:t>"Quais alavancas operacionais (como logística e atendimento) realmente definem a satisfação do cliente, e como podemos identificá-las antes da coleta do NPS?"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 que os dados nos contam?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Ao analisar a base histórica, um fator determinante foi identificado: o impacto direto dos dias de atraso na experiência do cliente.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47406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Perfil do Detrator: </a:t>
            </a:r>
            <a:r>
              <a:rPr sz="2200">
                <a:solidFill>
                  <a:srgbClr val="3C3C3C"/>
                </a:solidFill>
              </a:rPr>
              <a:t>A análise revela que o grupo de "Detratores" concentra-se em pedidos com atrasos significativos. A mediana e a dispersão (variação) dos atrasos são nitidamente superiores neste grupo.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Excelência do Promotor: </a:t>
            </a:r>
            <a:r>
              <a:rPr sz="2200">
                <a:solidFill>
                  <a:srgbClr val="3C3C3C"/>
                </a:solidFill>
              </a:rPr>
              <a:t>Em contrapartida, os "Promotores" apresentam uma taxa de atraso praticamente nula, com entregas concentradas entre 0 e 1 dia de atraso.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O Ponto de Ruptura: </a:t>
            </a:r>
            <a:r>
              <a:rPr sz="2200">
                <a:solidFill>
                  <a:srgbClr val="3C3C3C"/>
                </a:solidFill>
              </a:rPr>
              <a:t>Os dados mostram que o cliente tolera pequenos atritos, mas o atraso logístico recorrente destrói a percepção de valor, invalidando investimentos em marketing ou concessão de descontos.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27DB1B49-67AF-53A6-2E07-2849FD0C61F7}"/>
              </a:ext>
            </a:extLst>
          </p:cNvPr>
          <p:cNvSpPr/>
          <p:nvPr/>
        </p:nvSpPr>
        <p:spPr>
          <a:xfrm>
            <a:off x="914400" y="6400800"/>
            <a:ext cx="12801600" cy="1498921"/>
          </a:xfrm>
          <a:prstGeom prst="rect">
            <a:avLst/>
          </a:prstGeom>
          <a:solidFill>
            <a:srgbClr val="E6F0FA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rPr lang="en-US" sz="1700" err="1">
                <a:ea typeface="Calibri"/>
                <a:cs typeface="Calibri"/>
              </a:rPr>
              <a:t>Observa</a:t>
            </a:r>
            <a:r>
              <a:rPr lang="en-US" sz="1700">
                <a:ea typeface="Calibri"/>
                <a:cs typeface="Calibri"/>
              </a:rPr>
              <a:t>-se um </a:t>
            </a:r>
            <a:r>
              <a:rPr lang="en-US" sz="1700" err="1">
                <a:ea typeface="Calibri"/>
                <a:cs typeface="Calibri"/>
              </a:rPr>
              <a:t>ponto</a:t>
            </a:r>
            <a:r>
              <a:rPr lang="en-US" sz="1700">
                <a:ea typeface="Calibri"/>
                <a:cs typeface="Calibri"/>
              </a:rPr>
              <a:t> de </a:t>
            </a:r>
            <a:r>
              <a:rPr lang="en-US" sz="1700" err="1">
                <a:ea typeface="Calibri"/>
                <a:cs typeface="Calibri"/>
              </a:rPr>
              <a:t>ruptura</a:t>
            </a:r>
            <a:r>
              <a:rPr lang="en-US" sz="1700">
                <a:ea typeface="Calibri"/>
                <a:cs typeface="Calibri"/>
              </a:rPr>
              <a:t> claro </a:t>
            </a:r>
            <a:r>
              <a:rPr lang="en-US" sz="1700" err="1">
                <a:ea typeface="Calibri"/>
                <a:cs typeface="Calibri"/>
              </a:rPr>
              <a:t>na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experiência</a:t>
            </a:r>
            <a:r>
              <a:rPr lang="en-US" sz="1700">
                <a:ea typeface="Calibri"/>
                <a:cs typeface="Calibri"/>
              </a:rPr>
              <a:t> do </a:t>
            </a:r>
            <a:r>
              <a:rPr lang="en-US" sz="1700" err="1">
                <a:ea typeface="Calibri"/>
                <a:cs typeface="Calibri"/>
              </a:rPr>
              <a:t>cliente</a:t>
            </a:r>
            <a:r>
              <a:rPr lang="en-US" sz="1700">
                <a:ea typeface="Calibri"/>
                <a:cs typeface="Calibri"/>
              </a:rPr>
              <a:t> a </a:t>
            </a:r>
            <a:r>
              <a:rPr lang="en-US" sz="1700" err="1">
                <a:ea typeface="Calibri"/>
                <a:cs typeface="Calibri"/>
              </a:rPr>
              <a:t>partir</a:t>
            </a:r>
            <a:r>
              <a:rPr lang="en-US" sz="1700">
                <a:ea typeface="Calibri"/>
                <a:cs typeface="Calibri"/>
              </a:rPr>
              <a:t> de </a:t>
            </a:r>
            <a:r>
              <a:rPr lang="en-US" sz="1700" err="1">
                <a:ea typeface="Calibri"/>
                <a:cs typeface="Calibri"/>
              </a:rPr>
              <a:t>aproximadamente</a:t>
            </a:r>
            <a:r>
              <a:rPr lang="en-US" sz="1700">
                <a:ea typeface="Calibri"/>
                <a:cs typeface="Calibri"/>
              </a:rPr>
              <a:t> 3 </a:t>
            </a:r>
            <a:r>
              <a:rPr lang="en-US" sz="1700" err="1">
                <a:ea typeface="Calibri"/>
                <a:cs typeface="Calibri"/>
              </a:rPr>
              <a:t>dias</a:t>
            </a:r>
            <a:r>
              <a:rPr lang="en-US" sz="1700">
                <a:ea typeface="Calibri"/>
                <a:cs typeface="Calibri"/>
              </a:rPr>
              <a:t> de </a:t>
            </a:r>
            <a:r>
              <a:rPr lang="en-US" sz="1700" err="1">
                <a:ea typeface="Calibri"/>
                <a:cs typeface="Calibri"/>
              </a:rPr>
              <a:t>atraso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na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entrega</a:t>
            </a:r>
            <a:r>
              <a:rPr lang="en-US" sz="1700">
                <a:ea typeface="Calibri"/>
                <a:cs typeface="Calibri"/>
              </a:rPr>
              <a:t>.</a:t>
            </a:r>
            <a:endParaRPr lang="pt-BR" sz="17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defRPr sz="2200" b="1">
                <a:solidFill>
                  <a:srgbClr val="003366"/>
                </a:solidFill>
              </a:defRPr>
            </a:pPr>
            <a:endParaRPr lang="en-US" sz="1700">
              <a:ea typeface="Calibri"/>
              <a:cs typeface="Calibri"/>
            </a:endParaRP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rPr lang="en-US" sz="1700" err="1">
                <a:ea typeface="Calibri"/>
                <a:cs typeface="Calibri"/>
              </a:rPr>
              <a:t>Enquanto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atrasos</a:t>
            </a:r>
            <a:r>
              <a:rPr lang="en-US" sz="1700">
                <a:ea typeface="Calibri"/>
                <a:cs typeface="Calibri"/>
              </a:rPr>
              <a:t> de </a:t>
            </a:r>
            <a:r>
              <a:rPr lang="en-US" sz="1700" err="1">
                <a:ea typeface="Calibri"/>
                <a:cs typeface="Calibri"/>
              </a:rPr>
              <a:t>até</a:t>
            </a:r>
            <a:r>
              <a:rPr lang="en-US" sz="1700">
                <a:ea typeface="Calibri"/>
                <a:cs typeface="Calibri"/>
              </a:rPr>
              <a:t> 2 </a:t>
            </a:r>
            <a:r>
              <a:rPr lang="en-US" sz="1700" err="1">
                <a:ea typeface="Calibri"/>
                <a:cs typeface="Calibri"/>
              </a:rPr>
              <a:t>dias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ainda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mantêm</a:t>
            </a:r>
            <a:r>
              <a:rPr lang="en-US" sz="1700">
                <a:ea typeface="Calibri"/>
                <a:cs typeface="Calibri"/>
              </a:rPr>
              <a:t> um NPS </a:t>
            </a:r>
            <a:r>
              <a:rPr lang="en-US" sz="1700" err="1">
                <a:ea typeface="Calibri"/>
                <a:cs typeface="Calibri"/>
              </a:rPr>
              <a:t>relativamente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estável</a:t>
            </a:r>
            <a:r>
              <a:rPr lang="en-US" sz="1700">
                <a:ea typeface="Calibri"/>
                <a:cs typeface="Calibri"/>
              </a:rPr>
              <a:t>, a </a:t>
            </a:r>
            <a:r>
              <a:rPr lang="en-US" sz="1700" err="1">
                <a:ea typeface="Calibri"/>
                <a:cs typeface="Calibri"/>
              </a:rPr>
              <a:t>partir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desse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ponto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há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uma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queda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acentuada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na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satisfação</a:t>
            </a:r>
            <a:r>
              <a:rPr lang="en-US" sz="1700">
                <a:ea typeface="Calibri"/>
                <a:cs typeface="Calibri"/>
              </a:rPr>
              <a:t>, </a:t>
            </a:r>
            <a:r>
              <a:rPr lang="en-US" sz="1700" err="1">
                <a:ea typeface="Calibri"/>
                <a:cs typeface="Calibri"/>
              </a:rPr>
              <a:t>indicando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que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atrasos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mais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longos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impactam</a:t>
            </a:r>
            <a:r>
              <a:rPr lang="en-US" sz="1700">
                <a:ea typeface="Calibri"/>
                <a:cs typeface="Calibri"/>
              </a:rPr>
              <a:t> </a:t>
            </a:r>
            <a:r>
              <a:rPr lang="en-US" sz="1700" err="1">
                <a:ea typeface="Calibri"/>
                <a:cs typeface="Calibri"/>
              </a:rPr>
              <a:t>significativamente</a:t>
            </a:r>
            <a:r>
              <a:rPr lang="en-US" sz="1700">
                <a:ea typeface="Calibri"/>
                <a:cs typeface="Calibri"/>
              </a:rPr>
              <a:t> a </a:t>
            </a:r>
            <a:r>
              <a:rPr lang="en-US" sz="1700" err="1">
                <a:ea typeface="Calibri"/>
                <a:cs typeface="Calibri"/>
              </a:rPr>
              <a:t>percepção</a:t>
            </a:r>
            <a:r>
              <a:rPr lang="en-US" sz="1700">
                <a:ea typeface="Calibri"/>
                <a:cs typeface="Calibri"/>
              </a:rPr>
              <a:t> do </a:t>
            </a:r>
            <a:r>
              <a:rPr lang="en-US" sz="1700" err="1">
                <a:ea typeface="Calibri"/>
                <a:cs typeface="Calibri"/>
              </a:rPr>
              <a:t>cliente</a:t>
            </a:r>
            <a:r>
              <a:rPr lang="en-US" sz="1700">
                <a:ea typeface="Calibri"/>
                <a:cs typeface="Calibri"/>
              </a:rPr>
              <a:t>.</a:t>
            </a:r>
            <a:endParaRPr lang="en-US" sz="1700">
              <a:solidFill>
                <a:srgbClr val="003366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C76E5-836F-D70D-6BB9-2271DF92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883C81-1166-EE46-5504-F421BB147698}"/>
              </a:ext>
            </a:extLst>
          </p:cNvPr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magem 6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87193E1F-8D25-FBF6-3C24-513AFFBDA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90" y="1918934"/>
            <a:ext cx="7715329" cy="5031379"/>
          </a:xfrm>
          <a:prstGeom prst="rect">
            <a:avLst/>
          </a:prstGeom>
        </p:spPr>
      </p:pic>
      <p:pic>
        <p:nvPicPr>
          <p:cNvPr id="9" name="Imagem 8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3D246FE4-9403-243C-0E64-40022E7E1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576" y="691559"/>
            <a:ext cx="5727612" cy="4465757"/>
          </a:xfrm>
          <a:prstGeom prst="rect">
            <a:avLst/>
          </a:prstGeom>
        </p:spPr>
      </p:pic>
      <p:pic>
        <p:nvPicPr>
          <p:cNvPr id="10" name="Imagem 9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5F5DF5C-6015-0131-B3EA-A463EBC7B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9341" y="5338369"/>
            <a:ext cx="4901647" cy="87050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00168EB-37FD-642D-907E-28D54F937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3483" y="6662385"/>
            <a:ext cx="4891766" cy="1096735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B6658096-C3D3-F784-8CCF-863E6BD037F4}"/>
              </a:ext>
            </a:extLst>
          </p:cNvPr>
          <p:cNvSpPr txBox="1"/>
          <p:nvPr/>
        </p:nvSpPr>
        <p:spPr>
          <a:xfrm>
            <a:off x="914400" y="457200"/>
            <a:ext cx="4054251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pt-BR"/>
              <a:t>Distribuição NPS</a:t>
            </a:r>
            <a:endParaRPr lang="pt-BR">
              <a:ea typeface="Calibri"/>
              <a:cs typeface="Calibri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6967869-866E-ADDC-0EC4-09E68A1F1FA7}"/>
              </a:ext>
            </a:extLst>
          </p:cNvPr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7397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Os principais Motores da Satisfação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Além do atraso logístico, estas são as engrenagens fundamentais que definem a nota do cliente: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003366"/>
                </a:solidFill>
              </a:defRPr>
            </a:pPr>
            <a:r>
              <a:t>Fatores de Atrito (Reduzem o NPS)</a:t>
            </a:r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D9534F"/>
                </a:solidFill>
              </a:rPr>
              <a:t>• Dias de Atraso na Entrega: </a:t>
            </a:r>
            <a:r>
              <a:rPr sz="2000">
                <a:solidFill>
                  <a:srgbClr val="3C3C3C"/>
                </a:solidFill>
              </a:rPr>
              <a:t>O maior detrator. Cada dia adicional reduz drasticamente a probabilidade de recomendação.</a:t>
            </a:r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D9534F"/>
                </a:solidFill>
              </a:rPr>
              <a:t>• Reincidência no Atendimento: </a:t>
            </a:r>
            <a:r>
              <a:rPr sz="2000">
                <a:solidFill>
                  <a:srgbClr val="3C3C3C"/>
                </a:solidFill>
              </a:rPr>
              <a:t>Clientes que precisam acionar o SAC múltiplas vezes apresentam uma forte tendência à detração.</a:t>
            </a:r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D9534F"/>
                </a:solidFill>
              </a:rPr>
              <a:t>• Falhas na Entrega: </a:t>
            </a:r>
            <a:r>
              <a:rPr sz="2000">
                <a:solidFill>
                  <a:srgbClr val="3C3C3C"/>
                </a:solidFill>
              </a:rPr>
              <a:t>Múltiplas tentativas frustradas geram ansiedade e frustração no consumidor.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5603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003366"/>
                </a:solidFill>
              </a:defRPr>
            </a:pPr>
            <a:r>
              <a:t>Fatores de Lealdade (Elevam o NPS)</a:t>
            </a:r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5CB85C"/>
                </a:solidFill>
              </a:rPr>
              <a:t>• Resolução Ágil: </a:t>
            </a:r>
            <a:r>
              <a:rPr sz="2000">
                <a:solidFill>
                  <a:srgbClr val="3C3C3C"/>
                </a:solidFill>
              </a:rPr>
              <a:t>Quando surge um problema, resolvê-lo em menos de 24h é capaz de recuperar a confiança do cliente.</a:t>
            </a:r>
          </a:p>
          <a:p>
            <a:pPr>
              <a:spcAft>
                <a:spcPts val="1500"/>
              </a:spcAft>
            </a:pPr>
            <a:r>
              <a:rPr sz="2000" b="1">
                <a:solidFill>
                  <a:srgbClr val="5CB85C"/>
                </a:solidFill>
              </a:rPr>
              <a:t>• Previsibilidade: </a:t>
            </a:r>
            <a:r>
              <a:rPr sz="2000">
                <a:solidFill>
                  <a:srgbClr val="3C3C3C"/>
                </a:solidFill>
              </a:rPr>
              <a:t>Cumprir o prazo prometido (mesmo que longo) é mais valioso do que prometer rapidez e atrasar.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CCBD-CFFC-D865-A768-3111A6DD1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A6B6F8-2DC1-6BD8-E2A9-2B26FBBD5C44}"/>
              </a:ext>
            </a:extLst>
          </p:cNvPr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8E644-54B1-9CED-BA53-CB6F715119B5}"/>
              </a:ext>
            </a:extLst>
          </p:cNvPr>
          <p:cNvSpPr txBox="1"/>
          <p:nvPr/>
        </p:nvSpPr>
        <p:spPr>
          <a:xfrm>
            <a:off x="914400" y="457200"/>
            <a:ext cx="4193520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lang="pt-BR"/>
              <a:t>Classificação NPS</a:t>
            </a:r>
            <a:endParaRPr lang="pt-BR"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3A6849-0877-B144-C656-235C0FC0BB0A}"/>
              </a:ext>
            </a:extLst>
          </p:cNvPr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m 7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DF88C658-FC2C-1E8A-0516-610AE9428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1" y="2242457"/>
            <a:ext cx="6730093" cy="4288972"/>
          </a:xfrm>
          <a:prstGeom prst="rect">
            <a:avLst/>
          </a:prstGeom>
        </p:spPr>
      </p:pic>
      <p:pic>
        <p:nvPicPr>
          <p:cNvPr id="9" name="Imagem 8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0A033351-D490-261A-F677-14F5C62AB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282" y="2057400"/>
            <a:ext cx="7089322" cy="4474029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F221A984-E7AD-B1FF-AB47-3E4649C8ECB7}"/>
              </a:ext>
            </a:extLst>
          </p:cNvPr>
          <p:cNvSpPr/>
          <p:nvPr/>
        </p:nvSpPr>
        <p:spPr>
          <a:xfrm>
            <a:off x="2797628" y="6836229"/>
            <a:ext cx="9035143" cy="1128807"/>
          </a:xfrm>
          <a:prstGeom prst="rect">
            <a:avLst/>
          </a:prstGeom>
          <a:solidFill>
            <a:srgbClr val="E6F0FA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NPS alto: entrega no prazo, sem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problemas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,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experiência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simples | NPS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baixo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: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atraso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,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reclamação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e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demora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na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resolução</a:t>
            </a:r>
            <a:br>
              <a:rPr lang="en-US" sz="1400" dirty="0">
                <a:ea typeface="Calibri"/>
                <a:cs typeface="Calibri"/>
              </a:rPr>
            </a:br>
            <a:br>
              <a:rPr lang="en-US" sz="1400" dirty="0">
                <a:ea typeface="Calibri"/>
                <a:cs typeface="Calibri"/>
              </a:rPr>
            </a:b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       O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cliente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até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tolera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pequenos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erros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, mas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não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tolera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fricção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acumulada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na</a:t>
            </a:r>
            <a:r>
              <a:rPr lang="en-US" sz="1400" dirty="0">
                <a:solidFill>
                  <a:srgbClr val="003366"/>
                </a:solidFill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003366"/>
                </a:solidFill>
                <a:ea typeface="Calibri"/>
                <a:cs typeface="Calibri"/>
              </a:rPr>
              <a:t>experiência</a:t>
            </a:r>
            <a:endParaRPr lang="pt-BR" sz="1400" dirty="0" err="1"/>
          </a:p>
        </p:txBody>
      </p:sp>
    </p:spTree>
    <p:extLst>
      <p:ext uri="{BB962C8B-B14F-4D97-AF65-F5344CB8AC3E}">
        <p14:creationId xmlns:p14="http://schemas.microsoft.com/office/powerpoint/2010/main" val="461818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Recomendações Práticas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Podemos mudar nossas estratégias a partir de três frentes: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Logística Preventiva (Torre de Controle): </a:t>
            </a:r>
            <a:r>
              <a:rPr sz="2200">
                <a:solidFill>
                  <a:srgbClr val="3C3C3C"/>
                </a:solidFill>
              </a:rPr>
              <a:t>Implementação de alertas automatizados para pedidos com risco de atraso. O objetivo é a comunicação proativa: informar o cliente antes que ele precise nos acionar.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Fast-Track no Atendimento: </a:t>
            </a:r>
            <a:r>
              <a:rPr sz="2200">
                <a:solidFill>
                  <a:srgbClr val="3C3C3C"/>
                </a:solidFill>
              </a:rPr>
              <a:t>Priorização automática (fila expressa) no SAC para clientes com pedidos já atrasados. Reduzir o tempo de resposta é fundamental para mitigar danos ao NPS.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Ajuste de Promessa (SLA): </a:t>
            </a:r>
            <a:r>
              <a:rPr sz="2200">
                <a:solidFill>
                  <a:srgbClr val="3C3C3C"/>
                </a:solidFill>
              </a:rPr>
              <a:t>Ajustar os prazos no site para ser mais conservador em regiões com histórico crítico de atrasos, garantindo expectativas realistas.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Limitações e Cuidados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36576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Para garantir decisões seguras, devemos considerar as fronteiras desta análise: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2801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NPS como Recorte Temporal: </a:t>
            </a:r>
            <a:r>
              <a:rPr sz="2200">
                <a:solidFill>
                  <a:srgbClr val="3C3C3C"/>
                </a:solidFill>
              </a:rPr>
              <a:t>O indicador reflete o sentimento de um momento específico. Para entender a jornada completa, é necessário analisar o relacionamento do cliente a longo prazo.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Variáveis Externas (Produto): </a:t>
            </a:r>
            <a:r>
              <a:rPr sz="2200">
                <a:solidFill>
                  <a:srgbClr val="3C3C3C"/>
                </a:solidFill>
              </a:rPr>
              <a:t>Nossa base foca em logística e operação. Fatores como defeitos de fábrica ou fragilidade do produto podem gerar detratores mesmo com uma entrega perfeita.</a:t>
            </a:r>
          </a:p>
          <a:p>
            <a:pPr>
              <a:spcAft>
                <a:spcPts val="2000"/>
              </a:spcAft>
            </a:pPr>
            <a:r>
              <a:rPr sz="2200" b="1">
                <a:solidFill>
                  <a:srgbClr val="FF8C00"/>
                </a:solidFill>
              </a:rPr>
              <a:t>• Precisão de Entrega e Pedido: </a:t>
            </a:r>
            <a:r>
              <a:rPr sz="2200">
                <a:solidFill>
                  <a:srgbClr val="3C3C3C"/>
                </a:solidFill>
              </a:rPr>
              <a:t>Otimizar o tempo de entrega é crucial, mas não resolve problemas de qualidade. Entregar o produto errado com rapidez continua resultando em uma experiência negativa.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679</Words>
  <Application>Microsoft Office PowerPoint</Application>
  <PresentationFormat>Personalizar</PresentationFormat>
  <Paragraphs>35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Zv BryanZ</dc:creator>
  <cp:keywords/>
  <dc:description>generated using python-pptx</dc:description>
  <cp:lastModifiedBy>Zv BryanZ</cp:lastModifiedBy>
  <cp:revision>264</cp:revision>
  <dcterms:created xsi:type="dcterms:W3CDTF">2013-01-27T09:14:16Z</dcterms:created>
  <dcterms:modified xsi:type="dcterms:W3CDTF">2026-05-05T01:39:14Z</dcterms:modified>
  <cp:category/>
</cp:coreProperties>
</file>